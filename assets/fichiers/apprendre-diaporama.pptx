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2c7678f-6296-bb1e-f861-c3f1d83a50bd}">
          <p14:sldIdLst>
            <p14:sldId id="256"/>
            <p14:sldId id="257"/>
            <p14:sldId id="258"/>
            <p14:sldId id="259"/>
            <p14:sldId id="260"/>
          </p14:sldIdLst>
        </p14:section>
        <p14:section name="Bien apprendre" id="{34515012-b24c-1c94-ab4f-b838b9fb164a}">
          <p14:sldIdLst>
            <p14:sldId id="261"/>
            <p14:sldId id="262"/>
            <p14:sldId id="263"/>
          </p14:sldIdLst>
        </p14:section>
        <p14:section name="Répéter" id="{036ee98f-f5cf-6e8d-30bd-ade0434407af}">
          <p14:sldIdLst>
            <p14:sldId id="264"/>
            <p14:sldId id="265"/>
            <p14:sldId id="266"/>
            <p14:sldId id="267"/>
          </p14:sldIdLst>
        </p14:section>
        <p14:section name="Les erreurs" id="{648e4703-41f9-d0bf-173c-1ef32a20c33a}">
          <p14:sldIdLst>
            <p14:sldId id="268"/>
            <p14:sldId id="269"/>
            <p14:sldId id="270"/>
            <p14:sldId id="271"/>
          </p14:sldIdLst>
        </p14:section>
        <p14:section name="Comprendre" id="{9ca7b84a-5c64-f526-b695-a8d0e2129ec3}">
          <p14:sldIdLst>
            <p14:sldId id="272"/>
          </p14:sldIdLst>
        </p14:section>
        <p14:section name="Bilan" id="{56c66cc1-bf1e-2338-86ec-a9ae67e3c13f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Recueillir les représentations des élèves sur chacune des trois questions avant de passer à la diapo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diapo suivante contient la vidéo « Fonctionnement du cerveau », intégrée au fichier.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Projeter la vidéo « Les leçons du Maître Lucas : le fonctionnement du cerveau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du chemin : la première fois qu’on apprend, c’est comme tracer un petit chemin dans l’herbe ; si on y repasse souvent, il devient un sentier, puis une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les élèves proposer leurs idées, les noter au tableau, puis comparer avec les 4 clés de la diapo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quatre piliers de l’apprentissage (Stanislas Dehaene) : attention, engagement actif, retour sur l’erreur, consolidation.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poser des questions (s’auto-tester) est bien plus efficace que relire passivement.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9592056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97280" y="2377440"/>
            <a:ext cx="8494776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95920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Apprendre !</a:t>
            </a:r>
            <a:endParaRPr lang="en-US" sz="6600" dirty="0"/>
          </a:p>
        </p:txBody>
      </p:sp>
      <p:sp>
        <p:nvSpPr>
          <p:cNvPr id="3" name="Question 1"/>
          <p:cNvSpPr/>
          <p:nvPr/>
        </p:nvSpPr>
        <p:spPr>
          <a:xfrm>
            <a:off x="640080" y="3291840"/>
            <a:ext cx="2926080" cy="2926080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Question 1 cercle"/>
          <p:cNvSpPr/>
          <p:nvPr/>
        </p:nvSpPr>
        <p:spPr>
          <a:xfrm>
            <a:off x="1554480" y="3657600"/>
            <a:ext cx="1097280" cy="109728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5" name="Question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773" y="3942893"/>
            <a:ext cx="526694" cy="526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49834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Qu’est-ce que cela veut dire ?</a:t>
            </a:r>
            <a:endParaRPr lang="en-US" sz="2000" dirty="0"/>
          </a:p>
        </p:txBody>
      </p:sp>
      <p:sp>
        <p:nvSpPr>
          <p:cNvPr id="7" name="Question 2"/>
          <p:cNvSpPr/>
          <p:nvPr/>
        </p:nvSpPr>
        <p:spPr>
          <a:xfrm>
            <a:off x="3931920" y="3291840"/>
            <a:ext cx="2926080" cy="2926080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8" name="Question 2 cercle"/>
          <p:cNvSpPr/>
          <p:nvPr/>
        </p:nvSpPr>
        <p:spPr>
          <a:xfrm>
            <a:off x="4846320" y="3657600"/>
            <a:ext cx="1097280" cy="109728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9" name="Question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613" y="3942893"/>
            <a:ext cx="526694" cy="52669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114800" y="49834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À quoi cela sert ?</a:t>
            </a:r>
            <a:endParaRPr lang="en-US" sz="2000" dirty="0"/>
          </a:p>
        </p:txBody>
      </p:sp>
      <p:sp>
        <p:nvSpPr>
          <p:cNvPr id="11" name="Question 3"/>
          <p:cNvSpPr/>
          <p:nvPr/>
        </p:nvSpPr>
        <p:spPr>
          <a:xfrm>
            <a:off x="7223760" y="3291840"/>
            <a:ext cx="2926080" cy="2926080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2" name="Question 3 cercle"/>
          <p:cNvSpPr/>
          <p:nvPr/>
        </p:nvSpPr>
        <p:spPr>
          <a:xfrm>
            <a:off x="8138160" y="3657600"/>
            <a:ext cx="1097280" cy="109728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13" name="Question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453" y="3942893"/>
            <a:ext cx="526694" cy="52669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06640" y="49834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Où est-ce que ça se passe ?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Apprendre, c’est…</a:t>
            </a:r>
            <a:endParaRPr lang="en-US" sz="3600" dirty="0"/>
          </a:p>
        </p:txBody>
      </p:sp>
      <p:sp>
        <p:nvSpPr>
          <p:cNvPr id="3" name="Réponse 1"/>
          <p:cNvSpPr/>
          <p:nvPr/>
        </p:nvSpPr>
        <p:spPr>
          <a:xfrm>
            <a:off x="548640" y="1600200"/>
            <a:ext cx="9592056" cy="132588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Réponse 1 cercle"/>
          <p:cNvSpPr/>
          <p:nvPr/>
        </p:nvSpPr>
        <p:spPr>
          <a:xfrm>
            <a:off x="822960" y="1801368"/>
            <a:ext cx="914400" cy="91440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5" name="Réponse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039112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737360"/>
            <a:ext cx="7854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Ça veut dire…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Savoir ou savoir faire quelque chose que l’on ne savait pas faire avant.</a:t>
            </a:r>
            <a:endParaRPr lang="en-US" sz="2200" dirty="0"/>
          </a:p>
        </p:txBody>
      </p:sp>
      <p:sp>
        <p:nvSpPr>
          <p:cNvPr id="7" name="Réponse 2"/>
          <p:cNvSpPr/>
          <p:nvPr/>
        </p:nvSpPr>
        <p:spPr>
          <a:xfrm>
            <a:off x="548640" y="3200400"/>
            <a:ext cx="9592056" cy="132588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8" name="Réponse 2 cercle"/>
          <p:cNvSpPr/>
          <p:nvPr/>
        </p:nvSpPr>
        <p:spPr>
          <a:xfrm>
            <a:off x="822960" y="3401568"/>
            <a:ext cx="914400" cy="9144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9" name="Réponse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639312"/>
            <a:ext cx="438912" cy="4389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011680" y="3337560"/>
            <a:ext cx="7854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Ça sert à…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Comprendre le monde, devenir autonome, réaliser ses projets et ses rêves.</a:t>
            </a:r>
            <a:endParaRPr lang="en-US" sz="2200" dirty="0"/>
          </a:p>
        </p:txBody>
      </p:sp>
      <p:sp>
        <p:nvSpPr>
          <p:cNvPr id="11" name="Réponse 3"/>
          <p:cNvSpPr/>
          <p:nvPr/>
        </p:nvSpPr>
        <p:spPr>
          <a:xfrm>
            <a:off x="548640" y="4800600"/>
            <a:ext cx="9592056" cy="132588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2" name="Réponse 3 cercle"/>
          <p:cNvSpPr/>
          <p:nvPr/>
        </p:nvSpPr>
        <p:spPr>
          <a:xfrm>
            <a:off x="822960" y="5001768"/>
            <a:ext cx="914400" cy="91440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13" name="Réponse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523951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011680" y="4937760"/>
            <a:ext cx="7854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Ça se passe…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Dans le cerveau ! Il contient environ 86 milliards de neurones qui communiquent entre eux.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Comment fonctionne notre cerveau ?</a:t>
            </a:r>
            <a:endParaRPr lang="en-US" sz="3600" dirty="0"/>
          </a:p>
        </p:txBody>
      </p:sp>
      <p:sp>
        <p:nvSpPr>
          <p:cNvPr id="3" name="Vidéo suggérée"/>
          <p:cNvSpPr/>
          <p:nvPr/>
        </p:nvSpPr>
        <p:spPr>
          <a:xfrm>
            <a:off x="2377440" y="1737360"/>
            <a:ext cx="5934456" cy="4206240"/>
          </a:xfrm>
          <a:prstGeom prst="roundRect">
            <a:avLst>
              <a:gd name="adj" fmla="val 39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Vidéo cercle"/>
          <p:cNvSpPr/>
          <p:nvPr/>
        </p:nvSpPr>
        <p:spPr>
          <a:xfrm>
            <a:off x="4796028" y="2148840"/>
            <a:ext cx="1097280" cy="109728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Vidéo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1321" y="2434133"/>
            <a:ext cx="526694" cy="526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51760" y="3291840"/>
            <a:ext cx="5385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chemeClr val="tx2"/>
                </a:solidFill>
              </a:rPr>
              <a:t>Vidéo suggérée</a:t>
            </a:r>
            <a:endParaRPr lang="en-US" sz="2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« Les leçons du Maître Lucas : le fonctionnement du cerveau » (4 min 20)</a:t>
            </a:r>
            <a:endParaRPr lang="en-US" sz="2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2"/>
                </a:solidFill>
              </a:rPr>
              <a:t>À rechercher sur Internet et à projeter à la classe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La plasticité du cerveau !</a:t>
            </a:r>
            <a:endParaRPr lang="en-US" sz="3600" dirty="0"/>
          </a:p>
        </p:txBody>
      </p:sp>
      <p:sp>
        <p:nvSpPr>
          <p:cNvPr id="3" name="Cerveau sportif cadre"/>
          <p:cNvSpPr/>
          <p:nvPr/>
        </p:nvSpPr>
        <p:spPr>
          <a:xfrm>
            <a:off x="548640" y="1600200"/>
            <a:ext cx="4206240" cy="32918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pic>
        <p:nvPicPr>
          <p:cNvPr id="4" name="Cerveau sportif" descr="Un cerveau qui soulève des haltè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3931920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120640" y="169164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Le cerveau change à chaque fois qu’on apprend.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Les neurones créent de nouvelles connexions. Plus on s’entraîne, plus elles deviennent solides : le cerveau se muscle comme un sportif !</a:t>
            </a:r>
            <a:endParaRPr lang="en-US" sz="1800" dirty="0"/>
          </a:p>
        </p:txBody>
      </p:sp>
      <p:sp>
        <p:nvSpPr>
          <p:cNvPr id="6" name="Étape 1"/>
          <p:cNvSpPr/>
          <p:nvPr/>
        </p:nvSpPr>
        <p:spPr>
          <a:xfrm>
            <a:off x="548640" y="5257800"/>
            <a:ext cx="3017520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7" name="Numéro étape 1"/>
          <p:cNvSpPr/>
          <p:nvPr/>
        </p:nvSpPr>
        <p:spPr>
          <a:xfrm>
            <a:off x="731520" y="5641848"/>
            <a:ext cx="640080" cy="640080"/>
          </a:xfrm>
          <a:prstGeom prst="ellipse">
            <a:avLst/>
          </a:prstGeom>
          <a:solidFill>
            <a:srgbClr val="5BB8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chemeClr val="bg1"/>
                </a:solidFill>
              </a:rPr>
              <a:t>1</a:t>
            </a:r>
            <a:endParaRPr lang="en-US" sz="196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539496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 1re fois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petit chemin dans l’herbe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547872" y="5715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➜</a:t>
            </a:r>
            <a:endParaRPr lang="en-US" sz="2000" dirty="0"/>
          </a:p>
        </p:txBody>
      </p:sp>
      <p:sp>
        <p:nvSpPr>
          <p:cNvPr id="10" name="Étape 2"/>
          <p:cNvSpPr/>
          <p:nvPr/>
        </p:nvSpPr>
        <p:spPr>
          <a:xfrm>
            <a:off x="3886200" y="5257800"/>
            <a:ext cx="3017520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1" name="Numéro étape 2"/>
          <p:cNvSpPr/>
          <p:nvPr/>
        </p:nvSpPr>
        <p:spPr>
          <a:xfrm>
            <a:off x="4069080" y="5641848"/>
            <a:ext cx="640080" cy="640080"/>
          </a:xfrm>
          <a:prstGeom prst="ellipse">
            <a:avLst/>
          </a:prstGeom>
          <a:solidFill>
            <a:srgbClr val="FFC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chemeClr val="bg1"/>
                </a:solidFill>
              </a:rPr>
              <a:t>2</a:t>
            </a:r>
            <a:endParaRPr lang="en-US" sz="196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539496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 répétant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sentier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85432" y="5715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➜</a:t>
            </a:r>
            <a:endParaRPr lang="en-US" sz="2000" dirty="0"/>
          </a:p>
        </p:txBody>
      </p:sp>
      <p:sp>
        <p:nvSpPr>
          <p:cNvPr id="14" name="Étape 3"/>
          <p:cNvSpPr/>
          <p:nvPr/>
        </p:nvSpPr>
        <p:spPr>
          <a:xfrm>
            <a:off x="7223760" y="5257800"/>
            <a:ext cx="3017520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5" name="Numéro étape 3"/>
          <p:cNvSpPr/>
          <p:nvPr/>
        </p:nvSpPr>
        <p:spPr>
          <a:xfrm>
            <a:off x="7406640" y="5641848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chemeClr val="bg1"/>
                </a:solidFill>
              </a:rPr>
              <a:t>3</a:t>
            </a:r>
            <a:endParaRPr lang="en-US" sz="196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539496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À force d’entraînement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une route 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Bonne nouvelle !</a:t>
            </a:r>
            <a:endParaRPr lang="en-US" sz="3600" dirty="0"/>
          </a:p>
        </p:txBody>
      </p:sp>
      <p:sp>
        <p:nvSpPr>
          <p:cNvPr id="3" name="Message clé"/>
          <p:cNvSpPr/>
          <p:nvPr/>
        </p:nvSpPr>
        <p:spPr>
          <a:xfrm>
            <a:off x="548640" y="1737360"/>
            <a:ext cx="457200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9202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chemeClr val="bg1"/>
                </a:solidFill>
              </a:rPr>
              <a:t>Il n’y a pas de bonne ou de mauvaise mémoire.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</a:rPr>
              <a:t>Tout le monde est capable d’apprendre !</a:t>
            </a:r>
            <a:endParaRPr lang="en-US" sz="2600" dirty="0"/>
          </a:p>
        </p:txBody>
      </p:sp>
      <p:sp>
        <p:nvSpPr>
          <p:cNvPr id="5" name="Enfants joyeux cadre"/>
          <p:cNvSpPr/>
          <p:nvPr/>
        </p:nvSpPr>
        <p:spPr>
          <a:xfrm>
            <a:off x="5486400" y="1737360"/>
            <a:ext cx="4663440" cy="32918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pic>
        <p:nvPicPr>
          <p:cNvPr id="6" name="Enfants joyeux" descr="Trois enfants qui sautent de jo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874520"/>
            <a:ext cx="4389120" cy="3017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48640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La mémoire, ça s’entraîne : chacun peut la faire progresser.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97280" y="2377440"/>
            <a:ext cx="84947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Qu’est-ce qui est essentiel pour bien apprendre 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4572000"/>
            <a:ext cx="8494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accent1"/>
                </a:solidFill>
              </a:rPr>
              <a:t>À vous de proposer !</a:t>
            </a:r>
            <a:endParaRPr lang="en-US" sz="2200" dirty="0"/>
          </a:p>
        </p:txBody>
      </p:sp>
      <p:sp>
        <p:nvSpPr>
          <p:cNvPr id="4" name="Ampoule cercle"/>
          <p:cNvSpPr/>
          <p:nvPr/>
        </p:nvSpPr>
        <p:spPr>
          <a:xfrm>
            <a:off x="4750308" y="822960"/>
            <a:ext cx="1188720" cy="118872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5" name="Ampoule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375" y="1132027"/>
            <a:ext cx="570586" cy="570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Les 4 clés pour bien apprendre</a:t>
            </a:r>
            <a:endParaRPr lang="en-US" sz="3600" dirty="0"/>
          </a:p>
        </p:txBody>
      </p:sp>
      <p:sp>
        <p:nvSpPr>
          <p:cNvPr id="3" name="Clé 1"/>
          <p:cNvSpPr/>
          <p:nvPr/>
        </p:nvSpPr>
        <p:spPr>
          <a:xfrm>
            <a:off x="548640" y="1600200"/>
            <a:ext cx="4608576" cy="233172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Clé 1 cercle"/>
          <p:cNvSpPr/>
          <p:nvPr/>
        </p:nvSpPr>
        <p:spPr>
          <a:xfrm>
            <a:off x="822960" y="1874520"/>
            <a:ext cx="960120" cy="96012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5" name="Clé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" y="21241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874520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Être attentif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4059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regarde, j’écoute, je me concentre sur une seule chose à la fois.</a:t>
            </a:r>
            <a:endParaRPr lang="en-US" sz="1700" dirty="0"/>
          </a:p>
        </p:txBody>
      </p:sp>
      <p:sp>
        <p:nvSpPr>
          <p:cNvPr id="8" name="Clé 2"/>
          <p:cNvSpPr/>
          <p:nvPr/>
        </p:nvSpPr>
        <p:spPr>
          <a:xfrm>
            <a:off x="5522976" y="1600200"/>
            <a:ext cx="4608576" cy="233172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9" name="Clé 2 cercle"/>
          <p:cNvSpPr/>
          <p:nvPr/>
        </p:nvSpPr>
        <p:spPr>
          <a:xfrm>
            <a:off x="5797296" y="1874520"/>
            <a:ext cx="960120" cy="9601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0" name="Clé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927" y="212415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40296" y="1874520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Participer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5797296" y="2971800"/>
            <a:ext cx="4059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cherche, je réponds, je m’essaie : le cerveau apprend en agissant.</a:t>
            </a:r>
            <a:endParaRPr lang="en-US" sz="1700" dirty="0"/>
          </a:p>
        </p:txBody>
      </p:sp>
      <p:sp>
        <p:nvSpPr>
          <p:cNvPr id="13" name="Clé 3"/>
          <p:cNvSpPr/>
          <p:nvPr/>
        </p:nvSpPr>
        <p:spPr>
          <a:xfrm>
            <a:off x="548640" y="4297680"/>
            <a:ext cx="4608576" cy="233172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4" name="Clé 3 cercle"/>
          <p:cNvSpPr/>
          <p:nvPr/>
        </p:nvSpPr>
        <p:spPr>
          <a:xfrm>
            <a:off x="822960" y="4572000"/>
            <a:ext cx="960120" cy="96012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5" name="Clé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" y="4821631"/>
            <a:ext cx="460858" cy="46085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65960" y="4572000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Corriger ses erreurs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669280"/>
            <a:ext cx="4059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regarde où je me suis trompé et je comprends pourquoi.</a:t>
            </a:r>
            <a:endParaRPr lang="en-US" sz="1700" dirty="0"/>
          </a:p>
        </p:txBody>
      </p:sp>
      <p:sp>
        <p:nvSpPr>
          <p:cNvPr id="18" name="Clé 4"/>
          <p:cNvSpPr/>
          <p:nvPr/>
        </p:nvSpPr>
        <p:spPr>
          <a:xfrm>
            <a:off x="5522976" y="4297680"/>
            <a:ext cx="4608576" cy="233172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9" name="Clé 4 cercle"/>
          <p:cNvSpPr/>
          <p:nvPr/>
        </p:nvSpPr>
        <p:spPr>
          <a:xfrm>
            <a:off x="5797296" y="4572000"/>
            <a:ext cx="960120" cy="960120"/>
          </a:xfrm>
          <a:prstGeom prst="ellipse">
            <a:avLst/>
          </a:prstGeom>
          <a:solidFill>
            <a:srgbClr val="9B6BD3"/>
          </a:solidFill>
          <a:ln/>
        </p:spPr>
      </p:sp>
      <p:pic>
        <p:nvPicPr>
          <p:cNvPr id="20" name="Clé 4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927" y="4821631"/>
            <a:ext cx="460858" cy="46085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40296" y="4572000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Dormir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5797296" y="5669280"/>
            <a:ext cx="4059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dors bien pour tout ranger pendant que je dors.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Bien dormir pour bien apprendre</a:t>
            </a:r>
            <a:endParaRPr lang="en-US" sz="3600" dirty="0"/>
          </a:p>
        </p:txBody>
      </p:sp>
      <p:sp>
        <p:nvSpPr>
          <p:cNvPr id="3" name="Vidéo suggérée"/>
          <p:cNvSpPr/>
          <p:nvPr/>
        </p:nvSpPr>
        <p:spPr>
          <a:xfrm>
            <a:off x="548640" y="1737360"/>
            <a:ext cx="4389120" cy="452628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Vidéo cercle"/>
          <p:cNvSpPr/>
          <p:nvPr/>
        </p:nvSpPr>
        <p:spPr>
          <a:xfrm>
            <a:off x="2194560" y="2148840"/>
            <a:ext cx="1097280" cy="109728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Vidéo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9853" y="2434133"/>
            <a:ext cx="526694" cy="526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91840"/>
            <a:ext cx="3840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Vidéo suggérée</a:t>
            </a:r>
            <a:endParaRPr lang="en-US" sz="20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« À quoi ça sert de dormir ? » (1 jour, 1 question)</a:t>
            </a:r>
            <a:endParaRPr lang="en-US" sz="20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À rechercher sur Internet</a:t>
            </a:r>
            <a:endParaRPr lang="en-US" sz="2000" dirty="0"/>
          </a:p>
        </p:txBody>
      </p:sp>
      <p:sp>
        <p:nvSpPr>
          <p:cNvPr id="7" name="Sommeil 1"/>
          <p:cNvSpPr/>
          <p:nvPr/>
        </p:nvSpPr>
        <p:spPr>
          <a:xfrm>
            <a:off x="5303520" y="1737360"/>
            <a:ext cx="4837176" cy="132588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8" name="Sommeil 1 cercle"/>
          <p:cNvSpPr/>
          <p:nvPr/>
        </p:nvSpPr>
        <p:spPr>
          <a:xfrm>
            <a:off x="5532120" y="1965960"/>
            <a:ext cx="868680" cy="868680"/>
          </a:xfrm>
          <a:prstGeom prst="ellipse">
            <a:avLst/>
          </a:prstGeom>
          <a:solidFill>
            <a:srgbClr val="9B6BD3"/>
          </a:solidFill>
          <a:ln/>
        </p:spPr>
      </p:sp>
      <p:pic>
        <p:nvPicPr>
          <p:cNvPr id="9" name="Sommeil 1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977" y="219181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83680" y="1828800"/>
            <a:ext cx="3374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Pendant la nuit, le cerveau trie et range ce qu’on a appris dans la journée.</a:t>
            </a:r>
            <a:endParaRPr lang="en-US" sz="1700" dirty="0"/>
          </a:p>
        </p:txBody>
      </p:sp>
      <p:sp>
        <p:nvSpPr>
          <p:cNvPr id="11" name="Sommeil 2"/>
          <p:cNvSpPr/>
          <p:nvPr/>
        </p:nvSpPr>
        <p:spPr>
          <a:xfrm>
            <a:off x="5303520" y="3337560"/>
            <a:ext cx="4837176" cy="132588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2" name="Sommeil 2 cercle"/>
          <p:cNvSpPr/>
          <p:nvPr/>
        </p:nvSpPr>
        <p:spPr>
          <a:xfrm>
            <a:off x="5532120" y="3566160"/>
            <a:ext cx="868680" cy="86868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13" name="Sommeil 2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977" y="379201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83680" y="3429000"/>
            <a:ext cx="3374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Il « rejoue » les leçons : au réveil, elles sont mieux mémorisées.</a:t>
            </a:r>
            <a:endParaRPr lang="en-US" sz="1700" dirty="0"/>
          </a:p>
        </p:txBody>
      </p:sp>
      <p:sp>
        <p:nvSpPr>
          <p:cNvPr id="15" name="Sommeil 3"/>
          <p:cNvSpPr/>
          <p:nvPr/>
        </p:nvSpPr>
        <p:spPr>
          <a:xfrm>
            <a:off x="5303520" y="4937760"/>
            <a:ext cx="4837176" cy="132588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6" name="Sommeil 3 cercle"/>
          <p:cNvSpPr/>
          <p:nvPr/>
        </p:nvSpPr>
        <p:spPr>
          <a:xfrm>
            <a:off x="5532120" y="5166360"/>
            <a:ext cx="868680" cy="86868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7" name="Sommeil 3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977" y="5392217"/>
            <a:ext cx="416966" cy="41696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583680" y="5029200"/>
            <a:ext cx="3374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enfant de 6 à 12 ans a besoin de 9 à 12 heures de sommeil.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Recommencer en faisant appel à ta mémoire</a:t>
            </a:r>
            <a:endParaRPr lang="en-US" sz="3600" dirty="0"/>
          </a:p>
        </p:txBody>
      </p:sp>
      <p:sp>
        <p:nvSpPr>
          <p:cNvPr id="3" name="Panneau baguette magique"/>
          <p:cNvSpPr/>
          <p:nvPr/>
        </p:nvSpPr>
        <p:spPr>
          <a:xfrm>
            <a:off x="822960" y="1600200"/>
            <a:ext cx="9043416" cy="5120640"/>
          </a:xfrm>
          <a:prstGeom prst="roundRect">
            <a:avLst>
              <a:gd name="adj" fmla="val 4464"/>
            </a:avLst>
          </a:prstGeom>
          <a:solidFill>
            <a:srgbClr val="13989B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Étiquette oubli"/>
          <p:cNvSpPr/>
          <p:nvPr/>
        </p:nvSpPr>
        <p:spPr>
          <a:xfrm>
            <a:off x="1280160" y="2148840"/>
            <a:ext cx="493776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BIEN FONCTIONNER,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1E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CERVEAU OUBLIE</a:t>
            </a:r>
            <a:endParaRPr lang="en-US" sz="2600" dirty="0"/>
          </a:p>
        </p:txBody>
      </p:sp>
      <p:sp>
        <p:nvSpPr>
          <p:cNvPr id="5" name="Message refaire"/>
          <p:cNvSpPr txBox="1"/>
          <p:nvPr/>
        </p:nvSpPr>
        <p:spPr>
          <a:xfrm>
            <a:off x="1280160" y="38404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Recommencer en faisant toujours appel à ta mémoire</a:t>
            </a:r>
            <a:endParaRPr lang="en-US" sz="2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 la baguette magique pour retenir à long terme !</a:t>
            </a:r>
            <a:endParaRPr lang="en-US" sz="2600" dirty="0"/>
          </a:p>
        </p:txBody>
      </p:sp>
      <p:pic>
        <p:nvPicPr>
          <p:cNvPr id="6" name="Cerveau qui oublie" descr="Un cerveau souriant qui laisse s’envoler des souveni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36" y="2971800"/>
            <a:ext cx="2834640" cy="2834640"/>
          </a:xfrm>
          <a:prstGeom prst="rect">
            <a:avLst/>
          </a:prstGeom>
        </p:spPr>
      </p:pic>
      <p:pic>
        <p:nvPicPr>
          <p:cNvPr id="7" name="Étincelle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336" y="2011680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Répéter en se posant des questions</a:t>
            </a:r>
            <a:endParaRPr lang="en-US" sz="3600" dirty="0"/>
          </a:p>
        </p:txBody>
      </p:sp>
      <p:sp>
        <p:nvSpPr>
          <p:cNvPr id="3" name="Astuce 1"/>
          <p:cNvSpPr/>
          <p:nvPr/>
        </p:nvSpPr>
        <p:spPr>
          <a:xfrm>
            <a:off x="548640" y="1828800"/>
            <a:ext cx="3017520" cy="40233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Astuce 1 cercle"/>
          <p:cNvSpPr/>
          <p:nvPr/>
        </p:nvSpPr>
        <p:spPr>
          <a:xfrm>
            <a:off x="1463040" y="2194560"/>
            <a:ext cx="1188720" cy="118872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5" name="Astuce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107" y="250362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Pour la dictée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389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regarde le modèle, puis je l’écris en le cachant. Je vérifie ensuite.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Répéter en se posant des questions</a:t>
            </a:r>
            <a:endParaRPr lang="en-US" sz="3600" dirty="0"/>
          </a:p>
        </p:txBody>
      </p:sp>
      <p:sp>
        <p:nvSpPr>
          <p:cNvPr id="3" name="Astuce 1"/>
          <p:cNvSpPr/>
          <p:nvPr/>
        </p:nvSpPr>
        <p:spPr>
          <a:xfrm>
            <a:off x="548640" y="1828800"/>
            <a:ext cx="3017520" cy="40233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Astuce 1 cercle"/>
          <p:cNvSpPr/>
          <p:nvPr/>
        </p:nvSpPr>
        <p:spPr>
          <a:xfrm>
            <a:off x="1463040" y="2194560"/>
            <a:ext cx="1188720" cy="118872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5" name="Astuce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107" y="250362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Pour la dictée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389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regarde le modèle, puis je l’écris en le cachant. Je vérifie ensuite.</a:t>
            </a:r>
            <a:endParaRPr lang="en-US" sz="1700" dirty="0"/>
          </a:p>
        </p:txBody>
      </p:sp>
      <p:sp>
        <p:nvSpPr>
          <p:cNvPr id="8" name="Astuce 2"/>
          <p:cNvSpPr/>
          <p:nvPr/>
        </p:nvSpPr>
        <p:spPr>
          <a:xfrm>
            <a:off x="3886200" y="1828800"/>
            <a:ext cx="3017520" cy="40233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9" name="Astuce 2 cercle"/>
          <p:cNvSpPr/>
          <p:nvPr/>
        </p:nvSpPr>
        <p:spPr>
          <a:xfrm>
            <a:off x="4800600" y="2194560"/>
            <a:ext cx="1188720" cy="11887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0" name="Astuce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667" y="2503627"/>
            <a:ext cx="570586" cy="5705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Pour les tables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160520" y="4389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J’écris les opérations d’un côté de la feuille et les résultats de l’autre. Je cache les résultats et je m’interroge.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Répéter en se posant des questions</a:t>
            </a:r>
            <a:endParaRPr lang="en-US" sz="3600" dirty="0"/>
          </a:p>
        </p:txBody>
      </p:sp>
      <p:sp>
        <p:nvSpPr>
          <p:cNvPr id="3" name="Astuce 1"/>
          <p:cNvSpPr/>
          <p:nvPr/>
        </p:nvSpPr>
        <p:spPr>
          <a:xfrm>
            <a:off x="548640" y="1828800"/>
            <a:ext cx="3017520" cy="40233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Astuce 1 cercle"/>
          <p:cNvSpPr/>
          <p:nvPr/>
        </p:nvSpPr>
        <p:spPr>
          <a:xfrm>
            <a:off x="1463040" y="2194560"/>
            <a:ext cx="1188720" cy="118872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5" name="Astuce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107" y="250362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Pour la dictée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389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regarde le modèle, puis je l’écris en le cachant. Je vérifie ensuite.</a:t>
            </a:r>
            <a:endParaRPr lang="en-US" sz="1700" dirty="0"/>
          </a:p>
        </p:txBody>
      </p:sp>
      <p:sp>
        <p:nvSpPr>
          <p:cNvPr id="8" name="Astuce 2"/>
          <p:cNvSpPr/>
          <p:nvPr/>
        </p:nvSpPr>
        <p:spPr>
          <a:xfrm>
            <a:off x="3886200" y="1828800"/>
            <a:ext cx="3017520" cy="40233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9" name="Astuce 2 cercle"/>
          <p:cNvSpPr/>
          <p:nvPr/>
        </p:nvSpPr>
        <p:spPr>
          <a:xfrm>
            <a:off x="4800600" y="2194560"/>
            <a:ext cx="1188720" cy="11887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0" name="Astuce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667" y="2503627"/>
            <a:ext cx="570586" cy="5705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Pour les tables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160520" y="4389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J’écris les opérations d’un côté de la feuille et les résultats de l’autre. Je cache les résultats et je m’interroge.</a:t>
            </a:r>
            <a:endParaRPr lang="en-US" sz="1700" dirty="0"/>
          </a:p>
        </p:txBody>
      </p:sp>
      <p:sp>
        <p:nvSpPr>
          <p:cNvPr id="13" name="Astuce 3"/>
          <p:cNvSpPr/>
          <p:nvPr/>
        </p:nvSpPr>
        <p:spPr>
          <a:xfrm>
            <a:off x="7223760" y="1828800"/>
            <a:ext cx="3017520" cy="40233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4" name="Astuce 3 cercle"/>
          <p:cNvSpPr/>
          <p:nvPr/>
        </p:nvSpPr>
        <p:spPr>
          <a:xfrm>
            <a:off x="8138160" y="2194560"/>
            <a:ext cx="1188720" cy="1188720"/>
          </a:xfrm>
          <a:prstGeom prst="ellipse">
            <a:avLst/>
          </a:prstGeom>
          <a:solidFill>
            <a:srgbClr val="5BB85E"/>
          </a:solidFill>
          <a:ln/>
        </p:spPr>
      </p:sp>
      <p:pic>
        <p:nvPicPr>
          <p:cNvPr id="15" name="Astuce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227" y="2503627"/>
            <a:ext cx="570586" cy="57058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5236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Un peu chaque jour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7498080" y="4389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Pas besoin de travailler très longtemps : mieux vaut 10 minutes chaque jour qu’une heure la veille !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 tromper, ce n’est pas être nul…</a:t>
            </a:r>
            <a:endParaRPr lang="en-US" sz="3600" dirty="0"/>
          </a:p>
        </p:txBody>
      </p:sp>
      <p:sp>
        <p:nvSpPr>
          <p:cNvPr id="3" name="Oups"/>
          <p:cNvSpPr/>
          <p:nvPr/>
        </p:nvSpPr>
        <p:spPr>
          <a:xfrm>
            <a:off x="548640" y="1645920"/>
            <a:ext cx="5120640" cy="395020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Oups cercle"/>
          <p:cNvSpPr/>
          <p:nvPr/>
        </p:nvSpPr>
        <p:spPr>
          <a:xfrm>
            <a:off x="2022653" y="2119945"/>
            <a:ext cx="2172614" cy="2172614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5" name="Oups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7533" y="2684825"/>
            <a:ext cx="1042855" cy="104285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383999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6B4A"/>
                </a:solidFill>
              </a:rPr>
              <a:t>Oups !</a:t>
            </a:r>
            <a:endParaRPr lang="en-US" sz="3300" dirty="0"/>
          </a:p>
        </p:txBody>
      </p:sp>
      <p:sp>
        <p:nvSpPr>
          <p:cNvPr id="7" name="Message erreur"/>
          <p:cNvSpPr/>
          <p:nvPr/>
        </p:nvSpPr>
        <p:spPr>
          <a:xfrm>
            <a:off x="6126480" y="2377440"/>
            <a:ext cx="4014216" cy="2377440"/>
          </a:xfrm>
          <a:prstGeom prst="roundRect">
            <a:avLst>
              <a:gd name="adj" fmla="val 692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309360" y="2514600"/>
            <a:ext cx="36484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… c’est</a:t>
            </a:r>
            <a:endParaRPr lang="en-US" sz="3000" dirty="0"/>
          </a:p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apprendre !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 tromper, c’est apprendre !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9592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2"/>
                </a:solidFill>
              </a:rPr>
              <a:t>… à condition de comprendre pourquoi on s’est trompé.</a:t>
            </a:r>
            <a:endParaRPr lang="en-US" sz="2000" dirty="0"/>
          </a:p>
        </p:txBody>
      </p:sp>
      <p:sp>
        <p:nvSpPr>
          <p:cNvPr id="4" name="Oups"/>
          <p:cNvSpPr/>
          <p:nvPr/>
        </p:nvSpPr>
        <p:spPr>
          <a:xfrm>
            <a:off x="548640" y="2011680"/>
            <a:ext cx="3291840" cy="2542032"/>
          </a:xfrm>
          <a:prstGeom prst="roundRect">
            <a:avLst>
              <a:gd name="adj" fmla="val 64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5" name="Oups cercle"/>
          <p:cNvSpPr/>
          <p:nvPr/>
        </p:nvSpPr>
        <p:spPr>
          <a:xfrm>
            <a:off x="1495501" y="2316724"/>
            <a:ext cx="1398118" cy="1398118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6" name="Oups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9012" y="2680234"/>
            <a:ext cx="671096" cy="6710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806281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6B4A"/>
                </a:solidFill>
              </a:rPr>
              <a:t>Oups !</a:t>
            </a:r>
            <a:endParaRPr lang="en-US" sz="2100" dirty="0"/>
          </a:p>
        </p:txBody>
      </p:sp>
      <p:sp>
        <p:nvSpPr>
          <p:cNvPr id="8" name="Étape erreur 1"/>
          <p:cNvSpPr/>
          <p:nvPr/>
        </p:nvSpPr>
        <p:spPr>
          <a:xfrm>
            <a:off x="4297680" y="2011680"/>
            <a:ext cx="5843016" cy="96012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9" name="Numéro 1"/>
          <p:cNvSpPr/>
          <p:nvPr/>
        </p:nvSpPr>
        <p:spPr>
          <a:xfrm>
            <a:off x="4498848" y="2167128"/>
            <a:ext cx="640080" cy="640080"/>
          </a:xfrm>
          <a:prstGeom prst="ellipse">
            <a:avLst/>
          </a:prstGeom>
          <a:solidFill>
            <a:srgbClr val="3AA0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chemeClr val="bg1"/>
                </a:solidFill>
              </a:rPr>
              <a:t>1</a:t>
            </a:r>
            <a:endParaRPr lang="en-US" sz="1960" dirty="0"/>
          </a:p>
        </p:txBody>
      </p:sp>
      <p:sp>
        <p:nvSpPr>
          <p:cNvPr id="10" name="Text 7"/>
          <p:cNvSpPr txBox="1"/>
          <p:nvPr/>
        </p:nvSpPr>
        <p:spPr>
          <a:xfrm>
            <a:off x="5349240" y="210312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Je repère mon erreur</a:t>
            </a:r>
            <a:endParaRPr lang="en-US" sz="2000" dirty="0"/>
          </a:p>
        </p:txBody>
      </p:sp>
      <p:sp>
        <p:nvSpPr>
          <p:cNvPr id="11" name="Étape erreur 2"/>
          <p:cNvSpPr/>
          <p:nvPr/>
        </p:nvSpPr>
        <p:spPr>
          <a:xfrm>
            <a:off x="4297680" y="3200400"/>
            <a:ext cx="5843016" cy="96012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2" name="Numéro 2"/>
          <p:cNvSpPr/>
          <p:nvPr/>
        </p:nvSpPr>
        <p:spPr>
          <a:xfrm>
            <a:off x="4498848" y="3355848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chemeClr val="bg1"/>
                </a:solidFill>
              </a:rPr>
              <a:t>2</a:t>
            </a:r>
            <a:endParaRPr lang="en-US" sz="196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329184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Je cherche pourquoi je me suis trompé</a:t>
            </a:r>
            <a:endParaRPr lang="en-US" sz="2000" dirty="0"/>
          </a:p>
        </p:txBody>
      </p:sp>
      <p:sp>
        <p:nvSpPr>
          <p:cNvPr id="14" name="Étape erreur 3"/>
          <p:cNvSpPr/>
          <p:nvPr/>
        </p:nvSpPr>
        <p:spPr>
          <a:xfrm>
            <a:off x="4297680" y="4389120"/>
            <a:ext cx="5843016" cy="96012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5" name="Numéro 3"/>
          <p:cNvSpPr/>
          <p:nvPr/>
        </p:nvSpPr>
        <p:spPr>
          <a:xfrm>
            <a:off x="4498848" y="4544568"/>
            <a:ext cx="640080" cy="640080"/>
          </a:xfrm>
          <a:prstGeom prst="ellipse">
            <a:avLst/>
          </a:prstGeom>
          <a:solidFill>
            <a:srgbClr val="FFC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chemeClr val="bg1"/>
                </a:solidFill>
              </a:rPr>
              <a:t>3</a:t>
            </a:r>
            <a:endParaRPr lang="en-US" sz="1960" dirty="0"/>
          </a:p>
        </p:txBody>
      </p:sp>
      <p:sp>
        <p:nvSpPr>
          <p:cNvPr id="16" name="Text 13"/>
          <p:cNvSpPr txBox="1"/>
          <p:nvPr/>
        </p:nvSpPr>
        <p:spPr>
          <a:xfrm>
            <a:off x="5349240" y="448056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Je corrige</a:t>
            </a:r>
            <a:endParaRPr lang="en-US" sz="2000" dirty="0"/>
          </a:p>
        </p:txBody>
      </p:sp>
      <p:sp>
        <p:nvSpPr>
          <p:cNvPr id="17" name="Étape erreur 4"/>
          <p:cNvSpPr/>
          <p:nvPr/>
        </p:nvSpPr>
        <p:spPr>
          <a:xfrm>
            <a:off x="4297680" y="5577840"/>
            <a:ext cx="5843016" cy="96012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8" name="Numéro 4"/>
          <p:cNvSpPr/>
          <p:nvPr/>
        </p:nvSpPr>
        <p:spPr>
          <a:xfrm>
            <a:off x="4498848" y="5733288"/>
            <a:ext cx="640080" cy="640080"/>
          </a:xfrm>
          <a:prstGeom prst="ellipse">
            <a:avLst/>
          </a:prstGeom>
          <a:solidFill>
            <a:srgbClr val="5BB8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chemeClr val="bg1"/>
                </a:solidFill>
              </a:rPr>
              <a:t>4</a:t>
            </a:r>
            <a:endParaRPr lang="en-US" sz="196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566928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Je retiens la bonne réponse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97280" y="2377440"/>
            <a:ext cx="84947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Quels sont les moments en classe où l’on revient sur ses erreurs ?</a:t>
            </a:r>
            <a:endParaRPr lang="en-US" sz="4000" dirty="0"/>
          </a:p>
        </p:txBody>
      </p:sp>
      <p:sp>
        <p:nvSpPr>
          <p:cNvPr id="3" name="Loupe cercle"/>
          <p:cNvSpPr/>
          <p:nvPr/>
        </p:nvSpPr>
        <p:spPr>
          <a:xfrm>
            <a:off x="4750308" y="822960"/>
            <a:ext cx="1188720" cy="11887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4" name="Loupe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375" y="1132027"/>
            <a:ext cx="570586" cy="5705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4572000"/>
            <a:ext cx="8494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accent1"/>
                </a:solidFill>
              </a:rPr>
              <a:t>À vous de chercher !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En classe, on revient sur ses erreurs…</a:t>
            </a:r>
            <a:endParaRPr lang="en-US" sz="3600" dirty="0"/>
          </a:p>
        </p:txBody>
      </p:sp>
      <p:sp>
        <p:nvSpPr>
          <p:cNvPr id="3" name="Moment 1"/>
          <p:cNvSpPr/>
          <p:nvPr/>
        </p:nvSpPr>
        <p:spPr>
          <a:xfrm>
            <a:off x="548640" y="1600200"/>
            <a:ext cx="3017520" cy="224028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Moment 1 cercle"/>
          <p:cNvSpPr/>
          <p:nvPr/>
        </p:nvSpPr>
        <p:spPr>
          <a:xfrm>
            <a:off x="1600200" y="1874520"/>
            <a:ext cx="914400" cy="91440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5" name="Moment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7944" y="21122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880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Pendant la correction de la dictée</a:t>
            </a:r>
            <a:endParaRPr lang="en-US" sz="1700" dirty="0"/>
          </a:p>
        </p:txBody>
      </p:sp>
      <p:sp>
        <p:nvSpPr>
          <p:cNvPr id="7" name="Moment 2"/>
          <p:cNvSpPr/>
          <p:nvPr/>
        </p:nvSpPr>
        <p:spPr>
          <a:xfrm>
            <a:off x="3886200" y="1600200"/>
            <a:ext cx="3017520" cy="224028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8" name="Moment 2 cercle"/>
          <p:cNvSpPr/>
          <p:nvPr/>
        </p:nvSpPr>
        <p:spPr>
          <a:xfrm>
            <a:off x="4937760" y="1874520"/>
            <a:ext cx="914400" cy="9144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9" name="Moment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211226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114800" y="2880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Lors de la correction collective au tableau</a:t>
            </a:r>
            <a:endParaRPr lang="en-US" sz="1700" dirty="0"/>
          </a:p>
        </p:txBody>
      </p:sp>
      <p:sp>
        <p:nvSpPr>
          <p:cNvPr id="11" name="Moment 3"/>
          <p:cNvSpPr/>
          <p:nvPr/>
        </p:nvSpPr>
        <p:spPr>
          <a:xfrm>
            <a:off x="7223760" y="1600200"/>
            <a:ext cx="3017520" cy="224028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2" name="Moment 3 cercle"/>
          <p:cNvSpPr/>
          <p:nvPr/>
        </p:nvSpPr>
        <p:spPr>
          <a:xfrm>
            <a:off x="8275320" y="1874520"/>
            <a:ext cx="914400" cy="91440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3" name="Moment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11226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52360" y="2880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Quand je relis mon travail avant de le rendre</a:t>
            </a:r>
            <a:endParaRPr lang="en-US" sz="1700" dirty="0"/>
          </a:p>
        </p:txBody>
      </p:sp>
      <p:sp>
        <p:nvSpPr>
          <p:cNvPr id="15" name="Moment 4"/>
          <p:cNvSpPr/>
          <p:nvPr/>
        </p:nvSpPr>
        <p:spPr>
          <a:xfrm>
            <a:off x="548640" y="4206240"/>
            <a:ext cx="3017520" cy="224028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6" name="Moment 4 cercle"/>
          <p:cNvSpPr/>
          <p:nvPr/>
        </p:nvSpPr>
        <p:spPr>
          <a:xfrm>
            <a:off x="1600200" y="4480560"/>
            <a:ext cx="914400" cy="914400"/>
          </a:xfrm>
          <a:prstGeom prst="ellipse">
            <a:avLst/>
          </a:prstGeom>
          <a:solidFill>
            <a:srgbClr val="9B6BD3"/>
          </a:solidFill>
          <a:ln/>
        </p:spPr>
      </p:sp>
      <p:pic>
        <p:nvPicPr>
          <p:cNvPr id="17" name="Moment 4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944" y="4718304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7240" y="5486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Quand la maîtresse ou le maître m’explique</a:t>
            </a:r>
            <a:endParaRPr lang="en-US" sz="1700" dirty="0"/>
          </a:p>
        </p:txBody>
      </p:sp>
      <p:sp>
        <p:nvSpPr>
          <p:cNvPr id="19" name="Moment 5"/>
          <p:cNvSpPr/>
          <p:nvPr/>
        </p:nvSpPr>
        <p:spPr>
          <a:xfrm>
            <a:off x="3886200" y="4206240"/>
            <a:ext cx="3017520" cy="224028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20" name="Moment 5 cercle"/>
          <p:cNvSpPr/>
          <p:nvPr/>
        </p:nvSpPr>
        <p:spPr>
          <a:xfrm>
            <a:off x="4937760" y="4480560"/>
            <a:ext cx="914400" cy="914400"/>
          </a:xfrm>
          <a:prstGeom prst="ellipse">
            <a:avLst/>
          </a:prstGeom>
          <a:solidFill>
            <a:srgbClr val="5BB85E"/>
          </a:solidFill>
          <a:ln/>
        </p:spPr>
      </p:sp>
      <p:pic>
        <p:nvPicPr>
          <p:cNvPr id="21" name="Moment 5 icô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4718304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114800" y="5486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 travaillant à deux ou en groupe</a:t>
            </a:r>
            <a:endParaRPr lang="en-US" sz="1700" dirty="0"/>
          </a:p>
        </p:txBody>
      </p:sp>
      <p:sp>
        <p:nvSpPr>
          <p:cNvPr id="23" name="Moment 6"/>
          <p:cNvSpPr/>
          <p:nvPr/>
        </p:nvSpPr>
        <p:spPr>
          <a:xfrm>
            <a:off x="7223760" y="4206240"/>
            <a:ext cx="3017520" cy="224028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24" name="Moment 6 cercle"/>
          <p:cNvSpPr/>
          <p:nvPr/>
        </p:nvSpPr>
        <p:spPr>
          <a:xfrm>
            <a:off x="8275320" y="4480560"/>
            <a:ext cx="914400" cy="914400"/>
          </a:xfrm>
          <a:prstGeom prst="ellipse">
            <a:avLst/>
          </a:prstGeom>
          <a:solidFill>
            <a:srgbClr val="1F5E3B"/>
          </a:solidFill>
          <a:ln/>
        </p:spPr>
      </p:sp>
      <p:pic>
        <p:nvPicPr>
          <p:cNvPr id="25" name="Moment 6 icô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47183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452360" y="5486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Quand je refais un exercice déjà corrigé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Pour apprendre, il faut bien comprendre !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9592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2"/>
                </a:solidFill>
              </a:rPr>
              <a:t>Que faut-il faire pour bien comprendre ?</a:t>
            </a:r>
            <a:endParaRPr lang="en-US" sz="2000" dirty="0"/>
          </a:p>
        </p:txBody>
      </p:sp>
      <p:sp>
        <p:nvSpPr>
          <p:cNvPr id="4" name="Comprendre 1"/>
          <p:cNvSpPr/>
          <p:nvPr/>
        </p:nvSpPr>
        <p:spPr>
          <a:xfrm>
            <a:off x="548640" y="1920240"/>
            <a:ext cx="4608576" cy="13716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5" name="Comprendre 1 cercle"/>
          <p:cNvSpPr/>
          <p:nvPr/>
        </p:nvSpPr>
        <p:spPr>
          <a:xfrm>
            <a:off x="777240" y="2148840"/>
            <a:ext cx="914400" cy="91440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6" name="Comprendre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3865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05740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J’écoute attentivement la consigne</a:t>
            </a:r>
            <a:endParaRPr lang="en-US" sz="1800" dirty="0"/>
          </a:p>
        </p:txBody>
      </p:sp>
      <p:sp>
        <p:nvSpPr>
          <p:cNvPr id="8" name="Comprendre 2"/>
          <p:cNvSpPr/>
          <p:nvPr/>
        </p:nvSpPr>
        <p:spPr>
          <a:xfrm>
            <a:off x="5522976" y="1920240"/>
            <a:ext cx="4608576" cy="13716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9" name="Comprendre 2 cercle"/>
          <p:cNvSpPr/>
          <p:nvPr/>
        </p:nvSpPr>
        <p:spPr>
          <a:xfrm>
            <a:off x="5751576" y="2148840"/>
            <a:ext cx="914400" cy="9144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0" name="Comprendre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8658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48856" y="205740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Je pose des questions quand je ne comprends pas</a:t>
            </a:r>
            <a:endParaRPr lang="en-US" sz="1800" dirty="0"/>
          </a:p>
        </p:txBody>
      </p:sp>
      <p:sp>
        <p:nvSpPr>
          <p:cNvPr id="12" name="Comprendre 3"/>
          <p:cNvSpPr/>
          <p:nvPr/>
        </p:nvSpPr>
        <p:spPr>
          <a:xfrm>
            <a:off x="548640" y="3566160"/>
            <a:ext cx="4608576" cy="13716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3" name="Comprendre 3 cercle"/>
          <p:cNvSpPr/>
          <p:nvPr/>
        </p:nvSpPr>
        <p:spPr>
          <a:xfrm>
            <a:off x="777240" y="3794760"/>
            <a:ext cx="914400" cy="91440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4" name="Comprendre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03250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874520" y="370332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Je redis avec mes propres mots</a:t>
            </a:r>
            <a:endParaRPr lang="en-US" sz="1800" dirty="0"/>
          </a:p>
        </p:txBody>
      </p:sp>
      <p:sp>
        <p:nvSpPr>
          <p:cNvPr id="16" name="Comprendre 4"/>
          <p:cNvSpPr/>
          <p:nvPr/>
        </p:nvSpPr>
        <p:spPr>
          <a:xfrm>
            <a:off x="5522976" y="3566160"/>
            <a:ext cx="4608576" cy="13716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7" name="Comprendre 4 cercle"/>
          <p:cNvSpPr/>
          <p:nvPr/>
        </p:nvSpPr>
        <p:spPr>
          <a:xfrm>
            <a:off x="5751576" y="3794760"/>
            <a:ext cx="914400" cy="914400"/>
          </a:xfrm>
          <a:prstGeom prst="ellipse">
            <a:avLst/>
          </a:prstGeom>
          <a:solidFill>
            <a:srgbClr val="9B6BD3"/>
          </a:solidFill>
          <a:ln/>
        </p:spPr>
      </p:sp>
      <p:pic>
        <p:nvPicPr>
          <p:cNvPr id="18" name="Comprendre 4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4032504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48856" y="370332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Je fais un dessin ou un schéma</a:t>
            </a:r>
            <a:endParaRPr lang="en-US" sz="1800" dirty="0"/>
          </a:p>
        </p:txBody>
      </p:sp>
      <p:sp>
        <p:nvSpPr>
          <p:cNvPr id="20" name="Comprendre 5"/>
          <p:cNvSpPr/>
          <p:nvPr/>
        </p:nvSpPr>
        <p:spPr>
          <a:xfrm>
            <a:off x="548640" y="5212080"/>
            <a:ext cx="4608576" cy="13716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21" name="Comprendre 5 cercle"/>
          <p:cNvSpPr/>
          <p:nvPr/>
        </p:nvSpPr>
        <p:spPr>
          <a:xfrm>
            <a:off x="777240" y="5440680"/>
            <a:ext cx="914400" cy="914400"/>
          </a:xfrm>
          <a:prstGeom prst="ellipse">
            <a:avLst/>
          </a:prstGeom>
          <a:solidFill>
            <a:srgbClr val="5BB85E"/>
          </a:solidFill>
          <a:ln/>
        </p:spPr>
      </p:sp>
      <p:pic>
        <p:nvPicPr>
          <p:cNvPr id="22" name="Comprendre 5 icô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67842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874520" y="53492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Je fais des liens avec ce que je sais déjà</a:t>
            </a:r>
            <a:endParaRPr lang="en-US" sz="1800" dirty="0"/>
          </a:p>
        </p:txBody>
      </p:sp>
      <p:sp>
        <p:nvSpPr>
          <p:cNvPr id="24" name="Comprendre 6"/>
          <p:cNvSpPr/>
          <p:nvPr/>
        </p:nvSpPr>
        <p:spPr>
          <a:xfrm>
            <a:off x="5522976" y="5212080"/>
            <a:ext cx="4608576" cy="13716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25" name="Comprendre 6 cercle"/>
          <p:cNvSpPr/>
          <p:nvPr/>
        </p:nvSpPr>
        <p:spPr>
          <a:xfrm>
            <a:off x="5751576" y="5440680"/>
            <a:ext cx="914400" cy="914400"/>
          </a:xfrm>
          <a:prstGeom prst="ellipse">
            <a:avLst/>
          </a:prstGeom>
          <a:solidFill>
            <a:srgbClr val="1F5E3B"/>
          </a:solidFill>
          <a:ln/>
        </p:spPr>
      </p:sp>
      <p:pic>
        <p:nvPicPr>
          <p:cNvPr id="26" name="Comprendre 6 icô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5678424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48856" y="53492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J’explique à un camarade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Je me rappelle les points importants</a:t>
            </a:r>
            <a:endParaRPr lang="en-US" sz="3600" dirty="0"/>
          </a:p>
        </p:txBody>
      </p:sp>
      <p:sp>
        <p:nvSpPr>
          <p:cNvPr id="3" name="Point 1"/>
          <p:cNvSpPr/>
          <p:nvPr/>
        </p:nvSpPr>
        <p:spPr>
          <a:xfrm>
            <a:off x="548640" y="1600200"/>
            <a:ext cx="4608576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Numéro point 1"/>
          <p:cNvSpPr/>
          <p:nvPr/>
        </p:nvSpPr>
        <p:spPr>
          <a:xfrm>
            <a:off x="777240" y="1920240"/>
            <a:ext cx="777240" cy="777240"/>
          </a:xfrm>
          <a:prstGeom prst="ellipse">
            <a:avLst/>
          </a:prstGeom>
          <a:solidFill>
            <a:srgbClr val="3AA0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chemeClr val="bg1"/>
                </a:solidFill>
              </a:rPr>
              <a:t>1</a:t>
            </a:r>
            <a:endParaRPr lang="en-US" sz="238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709928"/>
            <a:ext cx="32369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Tout le monde peut faire progresser sa mémoire.</a:t>
            </a:r>
            <a:endParaRPr lang="en-US" sz="1800" dirty="0"/>
          </a:p>
        </p:txBody>
      </p:sp>
      <p:sp>
        <p:nvSpPr>
          <p:cNvPr id="6" name="Point 2"/>
          <p:cNvSpPr/>
          <p:nvPr/>
        </p:nvSpPr>
        <p:spPr>
          <a:xfrm>
            <a:off x="5522976" y="1600200"/>
            <a:ext cx="4608576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7" name="Numéro point 2"/>
          <p:cNvSpPr/>
          <p:nvPr/>
        </p:nvSpPr>
        <p:spPr>
          <a:xfrm>
            <a:off x="5751576" y="1920240"/>
            <a:ext cx="777240" cy="777240"/>
          </a:xfrm>
          <a:prstGeom prst="ellipse">
            <a:avLst/>
          </a:prstGeom>
          <a:solidFill>
            <a:srgbClr val="FF6B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chemeClr val="bg1"/>
                </a:solidFill>
              </a:rPr>
              <a:t>2</a:t>
            </a:r>
            <a:endParaRPr lang="en-US" sz="2380" dirty="0"/>
          </a:p>
        </p:txBody>
      </p:sp>
      <p:sp>
        <p:nvSpPr>
          <p:cNvPr id="8" name="Text 6"/>
          <p:cNvSpPr txBox="1"/>
          <p:nvPr/>
        </p:nvSpPr>
        <p:spPr>
          <a:xfrm>
            <a:off x="6711696" y="1709928"/>
            <a:ext cx="32369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 peut entraîner sa mémoire.</a:t>
            </a:r>
            <a:endParaRPr lang="en-US" sz="1800" dirty="0"/>
          </a:p>
        </p:txBody>
      </p:sp>
      <p:sp>
        <p:nvSpPr>
          <p:cNvPr id="9" name="Point 3"/>
          <p:cNvSpPr/>
          <p:nvPr/>
        </p:nvSpPr>
        <p:spPr>
          <a:xfrm>
            <a:off x="548640" y="3337560"/>
            <a:ext cx="4608576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0" name="Numéro point 3"/>
          <p:cNvSpPr/>
          <p:nvPr/>
        </p:nvSpPr>
        <p:spPr>
          <a:xfrm>
            <a:off x="777240" y="3657600"/>
            <a:ext cx="777240" cy="777240"/>
          </a:xfrm>
          <a:prstGeom prst="ellipse">
            <a:avLst/>
          </a:prstGeom>
          <a:solidFill>
            <a:srgbClr val="9B6BD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chemeClr val="bg1"/>
                </a:solidFill>
              </a:rPr>
              <a:t>3</a:t>
            </a:r>
            <a:endParaRPr lang="en-US" sz="238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447288"/>
            <a:ext cx="32369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Il est important de bien dormir.</a:t>
            </a:r>
            <a:endParaRPr lang="en-US" sz="1800" dirty="0"/>
          </a:p>
        </p:txBody>
      </p:sp>
      <p:sp>
        <p:nvSpPr>
          <p:cNvPr id="12" name="Point 4"/>
          <p:cNvSpPr/>
          <p:nvPr/>
        </p:nvSpPr>
        <p:spPr>
          <a:xfrm>
            <a:off x="5522976" y="3337560"/>
            <a:ext cx="4608576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3" name="Numéro point 4"/>
          <p:cNvSpPr/>
          <p:nvPr/>
        </p:nvSpPr>
        <p:spPr>
          <a:xfrm>
            <a:off x="5751576" y="3657600"/>
            <a:ext cx="777240" cy="777240"/>
          </a:xfrm>
          <a:prstGeom prst="ellipse">
            <a:avLst/>
          </a:prstGeom>
          <a:solidFill>
            <a:srgbClr val="FFC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chemeClr val="bg1"/>
                </a:solidFill>
              </a:rPr>
              <a:t>4</a:t>
            </a:r>
            <a:endParaRPr lang="en-US" sz="238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3447288"/>
            <a:ext cx="32369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Il faut répéter, répéter, répéter… en se posant des questions.</a:t>
            </a:r>
            <a:endParaRPr lang="en-US" sz="1800" dirty="0"/>
          </a:p>
        </p:txBody>
      </p:sp>
      <p:sp>
        <p:nvSpPr>
          <p:cNvPr id="15" name="Point 5"/>
          <p:cNvSpPr/>
          <p:nvPr/>
        </p:nvSpPr>
        <p:spPr>
          <a:xfrm>
            <a:off x="548640" y="5074920"/>
            <a:ext cx="4608576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6" name="Numéro point 5"/>
          <p:cNvSpPr/>
          <p:nvPr/>
        </p:nvSpPr>
        <p:spPr>
          <a:xfrm>
            <a:off x="777240" y="5394960"/>
            <a:ext cx="777240" cy="777240"/>
          </a:xfrm>
          <a:prstGeom prst="ellipse">
            <a:avLst/>
          </a:prstGeom>
          <a:solidFill>
            <a:srgbClr val="5BB8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chemeClr val="bg1"/>
                </a:solidFill>
              </a:rPr>
              <a:t>5</a:t>
            </a:r>
            <a:endParaRPr lang="en-US" sz="238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5184648"/>
            <a:ext cx="32369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Quand on fait une erreur, on n’est pas nul, au contraire !</a:t>
            </a:r>
            <a:endParaRPr lang="en-US" sz="1800" dirty="0"/>
          </a:p>
        </p:txBody>
      </p:sp>
      <p:sp>
        <p:nvSpPr>
          <p:cNvPr id="18" name="Point 6"/>
          <p:cNvSpPr/>
          <p:nvPr/>
        </p:nvSpPr>
        <p:spPr>
          <a:xfrm>
            <a:off x="5522976" y="5074920"/>
            <a:ext cx="4608576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9" name="Numéro point 6"/>
          <p:cNvSpPr/>
          <p:nvPr/>
        </p:nvSpPr>
        <p:spPr>
          <a:xfrm>
            <a:off x="5751576" y="5394960"/>
            <a:ext cx="777240" cy="777240"/>
          </a:xfrm>
          <a:prstGeom prst="ellipse">
            <a:avLst/>
          </a:prstGeom>
          <a:solidFill>
            <a:srgbClr val="1F5E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chemeClr val="bg1"/>
                </a:solidFill>
              </a:rPr>
              <a:t>6</a:t>
            </a:r>
            <a:endParaRPr lang="en-US" sz="238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5184648"/>
            <a:ext cx="32369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Quand on comprend son erreur, on apprend.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prendre">
  <a:themeElements>
    <a:clrScheme name="Apprendre">
      <a:dk1>
        <a:srgbClr val="1E2B22"/>
      </a:dk1>
      <a:lt1>
        <a:srgbClr val="FFFFFF"/>
      </a:lt1>
      <a:dk2>
        <a:srgbClr val="1F5E3B"/>
      </a:dk2>
      <a:lt2>
        <a:srgbClr val="EEF7EF"/>
      </a:lt2>
      <a:accent1>
        <a:srgbClr val="FFC93C"/>
      </a:accent1>
      <a:accent2>
        <a:srgbClr val="FF6B4A"/>
      </a:accent2>
      <a:accent3>
        <a:srgbClr val="3AA0D8"/>
      </a:accent3>
      <a:accent4>
        <a:srgbClr val="5BB85E"/>
      </a:accent4>
      <a:accent5>
        <a:srgbClr val="9B6BD3"/>
      </a:accent5>
      <a:accent6>
        <a:srgbClr val="2E8B57"/>
      </a:accent6>
      <a:hlink>
        <a:srgbClr val="1F6FB2"/>
      </a:hlink>
      <a:folHlink>
        <a:srgbClr val="7A4FA8"/>
      </a:folHlink>
    </a:clrScheme>
    <a:fontScheme name="Apprendr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Toujours cap !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Apprendre !</dc:title>
  <dc:subject>PptxGenJS Presentation</dc:subject>
  <dc:creator>Toujours cap !</dc:creator>
  <cp:lastModifiedBy>Toujours cap !</cp:lastModifiedBy>
  <cp:revision>1</cp:revision>
  <dcterms:created xsi:type="dcterms:W3CDTF">2026-10-29T17:37:05Z</dcterms:created>
  <dcterms:modified xsi:type="dcterms:W3CDTF">2026-10-29T17:37:05Z</dcterms:modified>
</cp:coreProperties>
</file>